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Gotham" panose="020B0604020202020204" charset="0"/>
      <p:regular r:id="rId12"/>
    </p:embeddedFont>
    <p:embeddedFont>
      <p:font typeface="Gotham Bold" panose="020B0604020202020204" charset="0"/>
      <p:regular r:id="rId13"/>
    </p:embeddedFont>
    <p:embeddedFont>
      <p:font typeface="Gotham Light"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69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4468512" y="-353712"/>
            <a:ext cx="10994424" cy="1099442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FD6220"/>
              </a:solidFill>
              <a:prstDash val="solid"/>
              <a:miter/>
            </a:ln>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91400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6384897" y="5379918"/>
            <a:ext cx="6059445" cy="605944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5720762" y="6964430"/>
            <a:ext cx="2000810" cy="4114800"/>
          </a:xfrm>
          <a:custGeom>
            <a:avLst/>
            <a:gdLst/>
            <a:ahLst/>
            <a:cxnLst/>
            <a:rect l="l" t="t" r="r" b="b"/>
            <a:pathLst>
              <a:path w="2000810" h="4114800">
                <a:moveTo>
                  <a:pt x="0" y="0"/>
                </a:moveTo>
                <a:lnTo>
                  <a:pt x="2000810" y="0"/>
                </a:lnTo>
                <a:lnTo>
                  <a:pt x="2000810" y="4114800"/>
                </a:lnTo>
                <a:lnTo>
                  <a:pt x="0" y="4114800"/>
                </a:lnTo>
                <a:lnTo>
                  <a:pt x="0" y="0"/>
                </a:lnTo>
                <a:close/>
              </a:path>
            </a:pathLst>
          </a:custGeom>
          <a:blipFill>
            <a:blip r:embed="rId4">
              <a:alphaModFix amt="53000"/>
              <a:extLst>
                <a:ext uri="{96DAC541-7B7A-43D3-8B79-37D633B846F1}">
                  <asvg:svgBlip xmlns:asvg="http://schemas.microsoft.com/office/drawing/2016/SVG/main" r:embed="rId5"/>
                </a:ext>
              </a:extLst>
            </a:blip>
            <a:stretch>
              <a:fillRect r="-204881"/>
            </a:stretch>
          </a:blipFill>
        </p:spPr>
      </p:sp>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373132" y="4114076"/>
            <a:ext cx="12198237" cy="2291464"/>
            <a:chOff x="0" y="0"/>
            <a:chExt cx="3212705" cy="603513"/>
          </a:xfrm>
        </p:grpSpPr>
        <p:sp>
          <p:nvSpPr>
            <p:cNvPr id="14" name="Freeform 14"/>
            <p:cNvSpPr/>
            <p:nvPr/>
          </p:nvSpPr>
          <p:spPr>
            <a:xfrm>
              <a:off x="0" y="0"/>
              <a:ext cx="3212704" cy="603513"/>
            </a:xfrm>
            <a:custGeom>
              <a:avLst/>
              <a:gdLst/>
              <a:ahLst/>
              <a:cxnLst/>
              <a:rect l="l" t="t" r="r" b="b"/>
              <a:pathLst>
                <a:path w="3212704" h="603513">
                  <a:moveTo>
                    <a:pt x="0" y="0"/>
                  </a:moveTo>
                  <a:lnTo>
                    <a:pt x="3212704" y="0"/>
                  </a:lnTo>
                  <a:lnTo>
                    <a:pt x="3212704" y="603513"/>
                  </a:lnTo>
                  <a:lnTo>
                    <a:pt x="0" y="603513"/>
                  </a:lnTo>
                  <a:close/>
                </a:path>
              </a:pathLst>
            </a:custGeom>
            <a:solidFill>
              <a:srgbClr val="FFFEFE"/>
            </a:solidFill>
          </p:spPr>
        </p:sp>
        <p:sp>
          <p:nvSpPr>
            <p:cNvPr id="15" name="TextBox 15"/>
            <p:cNvSpPr txBox="1"/>
            <p:nvPr/>
          </p:nvSpPr>
          <p:spPr>
            <a:xfrm>
              <a:off x="0" y="-28575"/>
              <a:ext cx="3212705" cy="632088"/>
            </a:xfrm>
            <a:prstGeom prst="rect">
              <a:avLst/>
            </a:prstGeom>
          </p:spPr>
          <p:txBody>
            <a:bodyPr lIns="50800" tIns="50800" rIns="50800" bIns="50800" rtlCol="0" anchor="ctr"/>
            <a:lstStyle/>
            <a:p>
              <a:pPr algn="ctr">
                <a:lnSpc>
                  <a:spcPts val="2380"/>
                </a:lnSpc>
              </a:pPr>
              <a:endParaRPr/>
            </a:p>
          </p:txBody>
        </p:sp>
      </p:grpSp>
      <p:sp>
        <p:nvSpPr>
          <p:cNvPr id="16" name="TextBox 16"/>
          <p:cNvSpPr txBox="1"/>
          <p:nvPr/>
        </p:nvSpPr>
        <p:spPr>
          <a:xfrm>
            <a:off x="5878969" y="5685650"/>
            <a:ext cx="7186565" cy="3469620"/>
          </a:xfrm>
          <a:prstGeom prst="rect">
            <a:avLst/>
          </a:prstGeom>
        </p:spPr>
        <p:txBody>
          <a:bodyPr lIns="0" tIns="0" rIns="0" bIns="0" rtlCol="0" anchor="t">
            <a:spAutoFit/>
          </a:bodyPr>
          <a:lstStyle/>
          <a:p>
            <a:pPr algn="ctr">
              <a:lnSpc>
                <a:spcPts val="4586"/>
              </a:lnSpc>
            </a:pPr>
            <a:r>
              <a:rPr lang="en-US" sz="3275" b="1" spc="183">
                <a:solidFill>
                  <a:srgbClr val="191919"/>
                </a:solidFill>
                <a:latin typeface="Gotham Bold"/>
                <a:ea typeface="Gotham Bold"/>
                <a:cs typeface="Gotham Bold"/>
                <a:sym typeface="Gotham Bold"/>
              </a:rPr>
              <a:t>TEAM MEMBERS:</a:t>
            </a:r>
          </a:p>
          <a:p>
            <a:pPr algn="ctr">
              <a:lnSpc>
                <a:spcPts val="4586"/>
              </a:lnSpc>
            </a:pPr>
            <a:r>
              <a:rPr lang="en-US" sz="3275" spc="183">
                <a:solidFill>
                  <a:srgbClr val="191919"/>
                </a:solidFill>
                <a:latin typeface="Gotham"/>
                <a:ea typeface="Gotham"/>
                <a:cs typeface="Gotham"/>
                <a:sym typeface="Gotham"/>
              </a:rPr>
              <a:t>Lakshman Siva</a:t>
            </a:r>
          </a:p>
          <a:p>
            <a:pPr algn="ctr">
              <a:lnSpc>
                <a:spcPts val="4586"/>
              </a:lnSpc>
            </a:pPr>
            <a:r>
              <a:rPr lang="en-US" sz="3275" spc="183">
                <a:solidFill>
                  <a:srgbClr val="191919"/>
                </a:solidFill>
                <a:latin typeface="Gotham"/>
                <a:ea typeface="Gotham"/>
                <a:cs typeface="Gotham"/>
                <a:sym typeface="Gotham"/>
              </a:rPr>
              <a:t>Mridula Mahendran</a:t>
            </a:r>
          </a:p>
          <a:p>
            <a:pPr algn="ctr">
              <a:lnSpc>
                <a:spcPts val="4586"/>
              </a:lnSpc>
            </a:pPr>
            <a:r>
              <a:rPr lang="en-US" sz="3275" spc="183">
                <a:solidFill>
                  <a:srgbClr val="191919"/>
                </a:solidFill>
                <a:latin typeface="Gotham"/>
                <a:ea typeface="Gotham"/>
                <a:cs typeface="Gotham"/>
                <a:sym typeface="Gotham"/>
              </a:rPr>
              <a:t>Prajeshkumar Sundareswaran</a:t>
            </a:r>
          </a:p>
          <a:p>
            <a:pPr algn="ctr">
              <a:lnSpc>
                <a:spcPts val="4586"/>
              </a:lnSpc>
            </a:pPr>
            <a:r>
              <a:rPr lang="en-US" sz="3275" spc="183">
                <a:solidFill>
                  <a:srgbClr val="191919"/>
                </a:solidFill>
                <a:latin typeface="Gotham"/>
                <a:ea typeface="Gotham"/>
                <a:cs typeface="Gotham"/>
                <a:sym typeface="Gotham"/>
              </a:rPr>
              <a:t>Murali Krishna Thangaraj</a:t>
            </a:r>
          </a:p>
          <a:p>
            <a:pPr algn="ctr">
              <a:lnSpc>
                <a:spcPts val="4586"/>
              </a:lnSpc>
              <a:spcBef>
                <a:spcPct val="0"/>
              </a:spcBef>
            </a:pPr>
            <a:endParaRPr lang="en-US" sz="3275" spc="183">
              <a:solidFill>
                <a:srgbClr val="191919"/>
              </a:solidFill>
              <a:latin typeface="Gotham"/>
              <a:ea typeface="Gotham"/>
              <a:cs typeface="Gotham"/>
              <a:sym typeface="Gotham"/>
            </a:endParaRPr>
          </a:p>
        </p:txBody>
      </p:sp>
      <p:sp>
        <p:nvSpPr>
          <p:cNvPr id="17" name="TextBox 17"/>
          <p:cNvSpPr txBox="1"/>
          <p:nvPr/>
        </p:nvSpPr>
        <p:spPr>
          <a:xfrm>
            <a:off x="3564241" y="3904526"/>
            <a:ext cx="11159517" cy="1866079"/>
          </a:xfrm>
          <a:prstGeom prst="rect">
            <a:avLst/>
          </a:prstGeom>
        </p:spPr>
        <p:txBody>
          <a:bodyPr lIns="0" tIns="0" rIns="0" bIns="0" rtlCol="0" anchor="t">
            <a:spAutoFit/>
          </a:bodyPr>
          <a:lstStyle/>
          <a:p>
            <a:pPr algn="ctr">
              <a:lnSpc>
                <a:spcPts val="15270"/>
              </a:lnSpc>
              <a:spcBef>
                <a:spcPct val="0"/>
              </a:spcBef>
            </a:pPr>
            <a:r>
              <a:rPr lang="en-US" sz="10907" b="1" spc="1527">
                <a:solidFill>
                  <a:srgbClr val="191919"/>
                </a:solidFill>
                <a:latin typeface="Gotham Bold"/>
                <a:ea typeface="Gotham Bold"/>
                <a:cs typeface="Gotham Bold"/>
                <a:sym typeface="Gotham Bold"/>
              </a:rPr>
              <a:t>DATAFYRE</a:t>
            </a:r>
          </a:p>
        </p:txBody>
      </p:sp>
      <p:grpSp>
        <p:nvGrpSpPr>
          <p:cNvPr id="18" name="Group 18"/>
          <p:cNvGrpSpPr/>
          <p:nvPr/>
        </p:nvGrpSpPr>
        <p:grpSpPr>
          <a:xfrm>
            <a:off x="-9965724" y="-1383136"/>
            <a:ext cx="10994424" cy="1099442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1373119" y="-1315898"/>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F0000"/>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898696" y="3184970"/>
            <a:ext cx="12418840" cy="5311774"/>
          </a:xfrm>
          <a:prstGeom prst="rect">
            <a:avLst/>
          </a:prstGeom>
        </p:spPr>
        <p:txBody>
          <a:bodyPr lIns="0" tIns="0" rIns="0" bIns="0" rtlCol="0" anchor="t">
            <a:spAutoFit/>
          </a:bodyPr>
          <a:lstStyle/>
          <a:p>
            <a:pPr algn="just">
              <a:lnSpc>
                <a:spcPts val="3850"/>
              </a:lnSpc>
            </a:pPr>
            <a:r>
              <a:rPr lang="en-US" sz="2500" spc="-235">
                <a:solidFill>
                  <a:srgbClr val="191919"/>
                </a:solidFill>
                <a:latin typeface="Gotham Light"/>
                <a:ea typeface="Gotham Light"/>
                <a:cs typeface="Gotham Light"/>
                <a:sym typeface="Gotham Light"/>
              </a:rPr>
              <a:t>In the world of modern development, data is critical for testing and development, especially when making frequent changes to applications. But generating real-world data can be time-consuming, costly, and impractical. DataFyre solves this problem by creating a fully customizable synthetic data generation tool with powerful analytics, dashboards, and user roles for enterprise-level management.</a:t>
            </a:r>
          </a:p>
          <a:p>
            <a:pPr algn="just">
              <a:lnSpc>
                <a:spcPts val="3850"/>
              </a:lnSpc>
            </a:pPr>
            <a:r>
              <a:rPr lang="en-US" sz="2500" spc="-235">
                <a:solidFill>
                  <a:srgbClr val="191919"/>
                </a:solidFill>
                <a:latin typeface="Gotham Light"/>
                <a:ea typeface="Gotham Light"/>
                <a:cs typeface="Gotham Light"/>
                <a:sym typeface="Gotham Light"/>
              </a:rPr>
              <a:t>DataFyre leverages the MERN stack (MongoDB, Express.js, React, Node.js) to offer an enterprise-level solution for managing synthetic data. It allows developers to quickly generate, customize, and manage meaningful test data, track the status of population processes, and view detailed logs for more efficient testing and development workflows. Whether you're building an app from scratch or maintaining an existing one, DataFyre provides the tools to make your data management easier and more effective.</a:t>
            </a:r>
          </a:p>
        </p:txBody>
      </p:sp>
      <p:sp>
        <p:nvSpPr>
          <p:cNvPr id="7" name="TextBox 7"/>
          <p:cNvSpPr txBox="1"/>
          <p:nvPr/>
        </p:nvSpPr>
        <p:spPr>
          <a:xfrm>
            <a:off x="2898696" y="2001585"/>
            <a:ext cx="9438145" cy="1259585"/>
          </a:xfrm>
          <a:prstGeom prst="rect">
            <a:avLst/>
          </a:prstGeom>
        </p:spPr>
        <p:txBody>
          <a:bodyPr lIns="0" tIns="0" rIns="0" bIns="0" rtlCol="0" anchor="t">
            <a:spAutoFit/>
          </a:bodyPr>
          <a:lstStyle/>
          <a:p>
            <a:pPr algn="l">
              <a:lnSpc>
                <a:spcPts val="9361"/>
              </a:lnSpc>
            </a:pPr>
            <a:r>
              <a:rPr lang="en-US" sz="9650" b="1" spc="482">
                <a:solidFill>
                  <a:srgbClr val="191919"/>
                </a:solidFill>
                <a:latin typeface="Gotham Bold"/>
                <a:ea typeface="Gotham Bold"/>
                <a:cs typeface="Gotham Bold"/>
                <a:sym typeface="Gotham Bold"/>
              </a:rPr>
              <a:t>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1373119" y="-1315898"/>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F0000"/>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169612" y="2709612"/>
            <a:ext cx="10775537" cy="5796660"/>
          </a:xfrm>
          <a:prstGeom prst="rect">
            <a:avLst/>
          </a:prstGeom>
        </p:spPr>
        <p:txBody>
          <a:bodyPr lIns="0" tIns="0" rIns="0" bIns="0" rtlCol="0" anchor="t">
            <a:spAutoFit/>
          </a:bodyPr>
          <a:lstStyle/>
          <a:p>
            <a:pPr marL="496575" lvl="1" indent="-248288" algn="l">
              <a:lnSpc>
                <a:spcPts val="3542"/>
              </a:lnSpc>
              <a:buFont typeface="Arial"/>
              <a:buChar char="•"/>
            </a:pPr>
            <a:r>
              <a:rPr lang="en-US" sz="2300" spc="-216">
                <a:solidFill>
                  <a:srgbClr val="191919"/>
                </a:solidFill>
                <a:latin typeface="Gotham Light"/>
                <a:ea typeface="Gotham Light"/>
                <a:cs typeface="Gotham Light"/>
                <a:sym typeface="Gotham Light"/>
              </a:rPr>
              <a:t>Synthetic Data Generation: Automatically generate customizable, meaningful test data based on user-defined APIs and input formats.</a:t>
            </a:r>
          </a:p>
          <a:p>
            <a:pPr marL="496575" lvl="1" indent="-248288" algn="l">
              <a:lnSpc>
                <a:spcPts val="3542"/>
              </a:lnSpc>
              <a:buFont typeface="Arial"/>
              <a:buChar char="•"/>
            </a:pPr>
            <a:r>
              <a:rPr lang="en-US" sz="2300" spc="-216">
                <a:solidFill>
                  <a:srgbClr val="191919"/>
                </a:solidFill>
                <a:latin typeface="Gotham Light"/>
                <a:ea typeface="Gotham Light"/>
                <a:cs typeface="Gotham Light"/>
                <a:sym typeface="Gotham Light"/>
              </a:rPr>
              <a:t>Customizable Data: Tailor the generated data to your application's specific needs, ensuring the data is realistic and useful.</a:t>
            </a:r>
          </a:p>
          <a:p>
            <a:pPr marL="496575" lvl="1" indent="-248288" algn="l">
              <a:lnSpc>
                <a:spcPts val="3542"/>
              </a:lnSpc>
              <a:buFont typeface="Arial"/>
              <a:buChar char="•"/>
            </a:pPr>
            <a:r>
              <a:rPr lang="en-US" sz="2300" spc="-216">
                <a:solidFill>
                  <a:srgbClr val="191919"/>
                </a:solidFill>
                <a:latin typeface="Gotham Light"/>
                <a:ea typeface="Gotham Light"/>
                <a:cs typeface="Gotham Light"/>
                <a:sym typeface="Gotham Light"/>
              </a:rPr>
              <a:t>Comprehensive Dashboard: View an interactive, real-time dashboard with detailed insights, analytics, and population status.</a:t>
            </a:r>
          </a:p>
          <a:p>
            <a:pPr marL="496575" lvl="1" indent="-248288" algn="l">
              <a:lnSpc>
                <a:spcPts val="3542"/>
              </a:lnSpc>
              <a:buFont typeface="Arial"/>
              <a:buChar char="•"/>
            </a:pPr>
            <a:r>
              <a:rPr lang="en-US" sz="2300" spc="-216">
                <a:solidFill>
                  <a:srgbClr val="191919"/>
                </a:solidFill>
                <a:latin typeface="Gotham Light"/>
                <a:ea typeface="Gotham Light"/>
                <a:cs typeface="Gotham Light"/>
                <a:sym typeface="Gotham Light"/>
              </a:rPr>
              <a:t>Role-Based Access Control: Manage user roles with different access levels and permissions (Admin, Developer, Tester, etc.), ensuring secure, scalable use in an enterprise setting.</a:t>
            </a:r>
          </a:p>
          <a:p>
            <a:pPr marL="496575" lvl="1" indent="-248288" algn="l">
              <a:lnSpc>
                <a:spcPts val="3542"/>
              </a:lnSpc>
              <a:buFont typeface="Arial"/>
              <a:buChar char="•"/>
            </a:pPr>
            <a:r>
              <a:rPr lang="en-US" sz="2300" spc="-216">
                <a:solidFill>
                  <a:srgbClr val="191919"/>
                </a:solidFill>
                <a:latin typeface="Gotham Light"/>
                <a:ea typeface="Gotham Light"/>
                <a:cs typeface="Gotham Light"/>
                <a:sym typeface="Gotham Light"/>
              </a:rPr>
              <a:t>Logs &amp; Analytics: Track every data generation event, view logs, and get insights into past populations for efficient debugging and testing.</a:t>
            </a:r>
          </a:p>
          <a:p>
            <a:pPr marL="496575" lvl="1" indent="-248288" algn="l">
              <a:lnSpc>
                <a:spcPts val="3542"/>
              </a:lnSpc>
              <a:buFont typeface="Arial"/>
              <a:buChar char="•"/>
            </a:pPr>
            <a:r>
              <a:rPr lang="en-US" sz="2300" spc="-216">
                <a:solidFill>
                  <a:srgbClr val="191919"/>
                </a:solidFill>
                <a:latin typeface="Gotham Light"/>
                <a:ea typeface="Gotham Light"/>
                <a:cs typeface="Gotham Light"/>
                <a:sym typeface="Gotham Light"/>
              </a:rPr>
              <a:t>Easy Integration: Seamlessly integrate with your existing applications, allowing you to populate data whenever required for testing and development.</a:t>
            </a:r>
          </a:p>
        </p:txBody>
      </p:sp>
      <p:sp>
        <p:nvSpPr>
          <p:cNvPr id="7" name="TextBox 7"/>
          <p:cNvSpPr txBox="1"/>
          <p:nvPr/>
        </p:nvSpPr>
        <p:spPr>
          <a:xfrm>
            <a:off x="2169612" y="1356485"/>
            <a:ext cx="8973005" cy="1259585"/>
          </a:xfrm>
          <a:prstGeom prst="rect">
            <a:avLst/>
          </a:prstGeom>
        </p:spPr>
        <p:txBody>
          <a:bodyPr lIns="0" tIns="0" rIns="0" bIns="0" rtlCol="0" anchor="t">
            <a:spAutoFit/>
          </a:bodyPr>
          <a:lstStyle/>
          <a:p>
            <a:pPr algn="l">
              <a:lnSpc>
                <a:spcPts val="9361"/>
              </a:lnSpc>
            </a:pPr>
            <a:r>
              <a:rPr lang="en-US" sz="9650" b="1" spc="482">
                <a:solidFill>
                  <a:srgbClr val="191919"/>
                </a:solidFill>
                <a:latin typeface="Gotham Bold"/>
                <a:ea typeface="Gotham Bold"/>
                <a:cs typeface="Gotham Bold"/>
                <a:sym typeface="Gotham Bold"/>
              </a:rPr>
              <a:t>Key Features</a:t>
            </a:r>
          </a:p>
        </p:txBody>
      </p:sp>
      <p:grpSp>
        <p:nvGrpSpPr>
          <p:cNvPr id="8" name="Group 8"/>
          <p:cNvGrpSpPr/>
          <p:nvPr/>
        </p:nvGrpSpPr>
        <p:grpSpPr>
          <a:xfrm rot="3945801">
            <a:off x="11868535" y="8125500"/>
            <a:ext cx="4776403" cy="477640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3945801">
            <a:off x="12156571" y="7154038"/>
            <a:ext cx="1577153" cy="3243522"/>
          </a:xfrm>
          <a:custGeom>
            <a:avLst/>
            <a:gdLst/>
            <a:ahLst/>
            <a:cxnLst/>
            <a:rect l="l" t="t" r="r" b="b"/>
            <a:pathLst>
              <a:path w="1577153" h="3243522">
                <a:moveTo>
                  <a:pt x="0" y="0"/>
                </a:moveTo>
                <a:lnTo>
                  <a:pt x="1577154" y="0"/>
                </a:lnTo>
                <a:lnTo>
                  <a:pt x="1577154" y="3243523"/>
                </a:lnTo>
                <a:lnTo>
                  <a:pt x="0" y="3243523"/>
                </a:lnTo>
                <a:lnTo>
                  <a:pt x="0" y="0"/>
                </a:lnTo>
                <a:close/>
              </a:path>
            </a:pathLst>
          </a:custGeom>
          <a:blipFill>
            <a:blip r:embed="rId4">
              <a:extLst>
                <a:ext uri="{96DAC541-7B7A-43D3-8B79-37D633B846F1}">
                  <asvg:svgBlip xmlns:asvg="http://schemas.microsoft.com/office/drawing/2016/SVG/main" r:embed="rId5"/>
                </a:ext>
              </a:extLst>
            </a:blip>
            <a:stretch>
              <a:fillRect r="-204881"/>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a:off x="1753455" y="3556119"/>
            <a:ext cx="3333655" cy="1210305"/>
          </a:xfrm>
          <a:custGeom>
            <a:avLst/>
            <a:gdLst/>
            <a:ahLst/>
            <a:cxnLst/>
            <a:rect l="l" t="t" r="r" b="b"/>
            <a:pathLst>
              <a:path w="3333655" h="1210305">
                <a:moveTo>
                  <a:pt x="0" y="0"/>
                </a:moveTo>
                <a:lnTo>
                  <a:pt x="3333655" y="0"/>
                </a:lnTo>
                <a:lnTo>
                  <a:pt x="3333655" y="1210305"/>
                </a:lnTo>
                <a:lnTo>
                  <a:pt x="0" y="1210305"/>
                </a:lnTo>
                <a:lnTo>
                  <a:pt x="0" y="0"/>
                </a:lnTo>
                <a:close/>
              </a:path>
            </a:pathLst>
          </a:custGeom>
          <a:blipFill>
            <a:blip r:embed="rId2"/>
            <a:stretch>
              <a:fillRect t="-40994" b="-31155"/>
            </a:stretch>
          </a:blipFill>
        </p:spPr>
      </p:sp>
      <p:sp>
        <p:nvSpPr>
          <p:cNvPr id="3" name="Freeform 3"/>
          <p:cNvSpPr/>
          <p:nvPr/>
        </p:nvSpPr>
        <p:spPr>
          <a:xfrm>
            <a:off x="2278354" y="5143500"/>
            <a:ext cx="2283857" cy="692524"/>
          </a:xfrm>
          <a:custGeom>
            <a:avLst/>
            <a:gdLst/>
            <a:ahLst/>
            <a:cxnLst/>
            <a:rect l="l" t="t" r="r" b="b"/>
            <a:pathLst>
              <a:path w="2283857" h="692524">
                <a:moveTo>
                  <a:pt x="0" y="0"/>
                </a:moveTo>
                <a:lnTo>
                  <a:pt x="2283857" y="0"/>
                </a:lnTo>
                <a:lnTo>
                  <a:pt x="2283857" y="692524"/>
                </a:lnTo>
                <a:lnTo>
                  <a:pt x="0" y="692524"/>
                </a:lnTo>
                <a:lnTo>
                  <a:pt x="0" y="0"/>
                </a:lnTo>
                <a:close/>
              </a:path>
            </a:pathLst>
          </a:custGeom>
          <a:blipFill>
            <a:blip r:embed="rId3"/>
            <a:stretch>
              <a:fillRect/>
            </a:stretch>
          </a:blipFill>
        </p:spPr>
      </p:sp>
      <p:sp>
        <p:nvSpPr>
          <p:cNvPr id="4" name="Freeform 4"/>
          <p:cNvSpPr/>
          <p:nvPr/>
        </p:nvSpPr>
        <p:spPr>
          <a:xfrm>
            <a:off x="2220766" y="6217024"/>
            <a:ext cx="2341445" cy="1438191"/>
          </a:xfrm>
          <a:custGeom>
            <a:avLst/>
            <a:gdLst/>
            <a:ahLst/>
            <a:cxnLst/>
            <a:rect l="l" t="t" r="r" b="b"/>
            <a:pathLst>
              <a:path w="2341445" h="1438191">
                <a:moveTo>
                  <a:pt x="0" y="0"/>
                </a:moveTo>
                <a:lnTo>
                  <a:pt x="2341445" y="0"/>
                </a:lnTo>
                <a:lnTo>
                  <a:pt x="2341445" y="1438192"/>
                </a:lnTo>
                <a:lnTo>
                  <a:pt x="0" y="1438192"/>
                </a:lnTo>
                <a:lnTo>
                  <a:pt x="0" y="0"/>
                </a:lnTo>
                <a:close/>
              </a:path>
            </a:pathLst>
          </a:custGeom>
          <a:blipFill>
            <a:blip r:embed="rId4"/>
            <a:stretch>
              <a:fillRect/>
            </a:stretch>
          </a:blipFill>
        </p:spPr>
      </p:sp>
      <p:sp>
        <p:nvSpPr>
          <p:cNvPr id="5" name="Freeform 5"/>
          <p:cNvSpPr/>
          <p:nvPr/>
        </p:nvSpPr>
        <p:spPr>
          <a:xfrm>
            <a:off x="1249162" y="8047995"/>
            <a:ext cx="4342241" cy="1210305"/>
          </a:xfrm>
          <a:custGeom>
            <a:avLst/>
            <a:gdLst/>
            <a:ahLst/>
            <a:cxnLst/>
            <a:rect l="l" t="t" r="r" b="b"/>
            <a:pathLst>
              <a:path w="4342241" h="1210305">
                <a:moveTo>
                  <a:pt x="0" y="0"/>
                </a:moveTo>
                <a:lnTo>
                  <a:pt x="4342241" y="0"/>
                </a:lnTo>
                <a:lnTo>
                  <a:pt x="4342241" y="1210305"/>
                </a:lnTo>
                <a:lnTo>
                  <a:pt x="0" y="1210305"/>
                </a:lnTo>
                <a:lnTo>
                  <a:pt x="0" y="0"/>
                </a:lnTo>
                <a:close/>
              </a:path>
            </a:pathLst>
          </a:custGeom>
          <a:blipFill>
            <a:blip r:embed="rId5"/>
            <a:stretch>
              <a:fillRect t="-35432" b="-35432"/>
            </a:stretch>
          </a:blipFill>
        </p:spPr>
      </p:sp>
      <p:sp>
        <p:nvSpPr>
          <p:cNvPr id="6" name="Freeform 6"/>
          <p:cNvSpPr/>
          <p:nvPr/>
        </p:nvSpPr>
        <p:spPr>
          <a:xfrm>
            <a:off x="9144000" y="6518918"/>
            <a:ext cx="4064749" cy="1745732"/>
          </a:xfrm>
          <a:custGeom>
            <a:avLst/>
            <a:gdLst/>
            <a:ahLst/>
            <a:cxnLst/>
            <a:rect l="l" t="t" r="r" b="b"/>
            <a:pathLst>
              <a:path w="4064749" h="1745732">
                <a:moveTo>
                  <a:pt x="0" y="0"/>
                </a:moveTo>
                <a:lnTo>
                  <a:pt x="4064749" y="0"/>
                </a:lnTo>
                <a:lnTo>
                  <a:pt x="4064749" y="1745732"/>
                </a:lnTo>
                <a:lnTo>
                  <a:pt x="0" y="1745732"/>
                </a:lnTo>
                <a:lnTo>
                  <a:pt x="0" y="0"/>
                </a:lnTo>
                <a:close/>
              </a:path>
            </a:pathLst>
          </a:custGeom>
          <a:blipFill>
            <a:blip r:embed="rId6"/>
            <a:stretch>
              <a:fillRect t="-64072" b="-68766"/>
            </a:stretch>
          </a:blipFill>
        </p:spPr>
      </p:sp>
      <p:sp>
        <p:nvSpPr>
          <p:cNvPr id="7" name="Freeform 7"/>
          <p:cNvSpPr/>
          <p:nvPr/>
        </p:nvSpPr>
        <p:spPr>
          <a:xfrm>
            <a:off x="9017966" y="3457919"/>
            <a:ext cx="2145948" cy="2617009"/>
          </a:xfrm>
          <a:custGeom>
            <a:avLst/>
            <a:gdLst/>
            <a:ahLst/>
            <a:cxnLst/>
            <a:rect l="l" t="t" r="r" b="b"/>
            <a:pathLst>
              <a:path w="2145948" h="2617009">
                <a:moveTo>
                  <a:pt x="0" y="0"/>
                </a:moveTo>
                <a:lnTo>
                  <a:pt x="2145948" y="0"/>
                </a:lnTo>
                <a:lnTo>
                  <a:pt x="2145948" y="2617009"/>
                </a:lnTo>
                <a:lnTo>
                  <a:pt x="0" y="2617009"/>
                </a:lnTo>
                <a:lnTo>
                  <a:pt x="0" y="0"/>
                </a:lnTo>
                <a:close/>
              </a:path>
            </a:pathLst>
          </a:custGeom>
          <a:blipFill>
            <a:blip r:embed="rId7"/>
            <a:stretch>
              <a:fillRect/>
            </a:stretch>
          </a:blipFill>
        </p:spPr>
      </p:sp>
      <p:sp>
        <p:nvSpPr>
          <p:cNvPr id="8" name="Freeform 8"/>
          <p:cNvSpPr/>
          <p:nvPr/>
        </p:nvSpPr>
        <p:spPr>
          <a:xfrm>
            <a:off x="12058826" y="3556119"/>
            <a:ext cx="1414001" cy="1414001"/>
          </a:xfrm>
          <a:custGeom>
            <a:avLst/>
            <a:gdLst/>
            <a:ahLst/>
            <a:cxnLst/>
            <a:rect l="l" t="t" r="r" b="b"/>
            <a:pathLst>
              <a:path w="1414001" h="1414001">
                <a:moveTo>
                  <a:pt x="0" y="0"/>
                </a:moveTo>
                <a:lnTo>
                  <a:pt x="1414000" y="0"/>
                </a:lnTo>
                <a:lnTo>
                  <a:pt x="1414000" y="1414001"/>
                </a:lnTo>
                <a:lnTo>
                  <a:pt x="0" y="1414001"/>
                </a:lnTo>
                <a:lnTo>
                  <a:pt x="0" y="0"/>
                </a:lnTo>
                <a:close/>
              </a:path>
            </a:pathLst>
          </a:custGeom>
          <a:blipFill>
            <a:blip r:embed="rId8"/>
            <a:stretch>
              <a:fillRect/>
            </a:stretch>
          </a:blipFill>
        </p:spPr>
      </p:sp>
      <p:sp>
        <p:nvSpPr>
          <p:cNvPr id="9" name="Freeform 9"/>
          <p:cNvSpPr/>
          <p:nvPr/>
        </p:nvSpPr>
        <p:spPr>
          <a:xfrm>
            <a:off x="14367739" y="3405710"/>
            <a:ext cx="1890320" cy="2669219"/>
          </a:xfrm>
          <a:custGeom>
            <a:avLst/>
            <a:gdLst/>
            <a:ahLst/>
            <a:cxnLst/>
            <a:rect l="l" t="t" r="r" b="b"/>
            <a:pathLst>
              <a:path w="1890320" h="2669219">
                <a:moveTo>
                  <a:pt x="0" y="0"/>
                </a:moveTo>
                <a:lnTo>
                  <a:pt x="1890319" y="0"/>
                </a:lnTo>
                <a:lnTo>
                  <a:pt x="1890319" y="2669218"/>
                </a:lnTo>
                <a:lnTo>
                  <a:pt x="0" y="2669218"/>
                </a:lnTo>
                <a:lnTo>
                  <a:pt x="0" y="0"/>
                </a:lnTo>
                <a:close/>
              </a:path>
            </a:pathLst>
          </a:custGeom>
          <a:blipFill>
            <a:blip r:embed="rId9"/>
            <a:stretch>
              <a:fillRect l="-82691" r="-79645" b="-4504"/>
            </a:stretch>
          </a:blipFill>
        </p:spPr>
      </p:sp>
      <p:sp>
        <p:nvSpPr>
          <p:cNvPr id="10" name="Freeform 10"/>
          <p:cNvSpPr/>
          <p:nvPr/>
        </p:nvSpPr>
        <p:spPr>
          <a:xfrm>
            <a:off x="14172863" y="6349186"/>
            <a:ext cx="2085196" cy="2085196"/>
          </a:xfrm>
          <a:custGeom>
            <a:avLst/>
            <a:gdLst/>
            <a:ahLst/>
            <a:cxnLst/>
            <a:rect l="l" t="t" r="r" b="b"/>
            <a:pathLst>
              <a:path w="2085196" h="2085196">
                <a:moveTo>
                  <a:pt x="0" y="0"/>
                </a:moveTo>
                <a:lnTo>
                  <a:pt x="2085195" y="0"/>
                </a:lnTo>
                <a:lnTo>
                  <a:pt x="2085195" y="2085195"/>
                </a:lnTo>
                <a:lnTo>
                  <a:pt x="0" y="2085195"/>
                </a:lnTo>
                <a:lnTo>
                  <a:pt x="0" y="0"/>
                </a:lnTo>
                <a:close/>
              </a:path>
            </a:pathLst>
          </a:custGeom>
          <a:blipFill>
            <a:blip r:embed="rId10"/>
            <a:stretch>
              <a:fillRect/>
            </a:stretch>
          </a:blipFill>
        </p:spPr>
      </p:sp>
      <p:sp>
        <p:nvSpPr>
          <p:cNvPr id="11" name="Freeform 11"/>
          <p:cNvSpPr/>
          <p:nvPr/>
        </p:nvSpPr>
        <p:spPr>
          <a:xfrm>
            <a:off x="12365151" y="5345533"/>
            <a:ext cx="1458791" cy="1458791"/>
          </a:xfrm>
          <a:custGeom>
            <a:avLst/>
            <a:gdLst/>
            <a:ahLst/>
            <a:cxnLst/>
            <a:rect l="l" t="t" r="r" b="b"/>
            <a:pathLst>
              <a:path w="1458791" h="1458791">
                <a:moveTo>
                  <a:pt x="0" y="0"/>
                </a:moveTo>
                <a:lnTo>
                  <a:pt x="1458791" y="0"/>
                </a:lnTo>
                <a:lnTo>
                  <a:pt x="1458791" y="1458791"/>
                </a:lnTo>
                <a:lnTo>
                  <a:pt x="0" y="1458791"/>
                </a:lnTo>
                <a:lnTo>
                  <a:pt x="0" y="0"/>
                </a:lnTo>
                <a:close/>
              </a:path>
            </a:pathLst>
          </a:custGeom>
          <a:blipFill>
            <a:blip r:embed="rId11"/>
            <a:stretch>
              <a:fillRect/>
            </a:stretch>
          </a:blipFill>
        </p:spPr>
      </p:sp>
      <p:sp>
        <p:nvSpPr>
          <p:cNvPr id="12" name="Freeform 12"/>
          <p:cNvSpPr/>
          <p:nvPr/>
        </p:nvSpPr>
        <p:spPr>
          <a:xfrm>
            <a:off x="4927222" y="5489762"/>
            <a:ext cx="1881939" cy="1673245"/>
          </a:xfrm>
          <a:custGeom>
            <a:avLst/>
            <a:gdLst/>
            <a:ahLst/>
            <a:cxnLst/>
            <a:rect l="l" t="t" r="r" b="b"/>
            <a:pathLst>
              <a:path w="1881939" h="1673245">
                <a:moveTo>
                  <a:pt x="0" y="0"/>
                </a:moveTo>
                <a:lnTo>
                  <a:pt x="1881940" y="0"/>
                </a:lnTo>
                <a:lnTo>
                  <a:pt x="1881940" y="1673245"/>
                </a:lnTo>
                <a:lnTo>
                  <a:pt x="0" y="1673245"/>
                </a:lnTo>
                <a:lnTo>
                  <a:pt x="0" y="0"/>
                </a:lnTo>
                <a:close/>
              </a:path>
            </a:pathLst>
          </a:custGeom>
          <a:blipFill>
            <a:blip r:embed="rId12"/>
            <a:stretch>
              <a:fillRect b="-12472"/>
            </a:stretch>
          </a:blipFill>
        </p:spPr>
      </p:sp>
      <p:sp>
        <p:nvSpPr>
          <p:cNvPr id="13" name="TextBox 13"/>
          <p:cNvSpPr txBox="1"/>
          <p:nvPr/>
        </p:nvSpPr>
        <p:spPr>
          <a:xfrm>
            <a:off x="1249162" y="1238250"/>
            <a:ext cx="8973005" cy="1259585"/>
          </a:xfrm>
          <a:prstGeom prst="rect">
            <a:avLst/>
          </a:prstGeom>
        </p:spPr>
        <p:txBody>
          <a:bodyPr lIns="0" tIns="0" rIns="0" bIns="0" rtlCol="0" anchor="t">
            <a:spAutoFit/>
          </a:bodyPr>
          <a:lstStyle/>
          <a:p>
            <a:pPr algn="l">
              <a:lnSpc>
                <a:spcPts val="9361"/>
              </a:lnSpc>
            </a:pPr>
            <a:r>
              <a:rPr lang="en-US" sz="9650" b="1" spc="482">
                <a:solidFill>
                  <a:srgbClr val="191919"/>
                </a:solidFill>
                <a:latin typeface="Gotham Bold"/>
                <a:ea typeface="Gotham Bold"/>
                <a:cs typeface="Gotham Bold"/>
                <a:sym typeface="Gotham Bold"/>
              </a:rPr>
              <a:t>Tech Stack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a:off x="6046079" y="245601"/>
            <a:ext cx="6351185" cy="10041399"/>
          </a:xfrm>
          <a:custGeom>
            <a:avLst/>
            <a:gdLst/>
            <a:ahLst/>
            <a:cxnLst/>
            <a:rect l="l" t="t" r="r" b="b"/>
            <a:pathLst>
              <a:path w="6351185" h="10041399">
                <a:moveTo>
                  <a:pt x="0" y="0"/>
                </a:moveTo>
                <a:lnTo>
                  <a:pt x="6351185" y="0"/>
                </a:lnTo>
                <a:lnTo>
                  <a:pt x="6351185" y="10041399"/>
                </a:lnTo>
                <a:lnTo>
                  <a:pt x="0" y="10041399"/>
                </a:lnTo>
                <a:lnTo>
                  <a:pt x="0" y="0"/>
                </a:lnTo>
                <a:close/>
              </a:path>
            </a:pathLst>
          </a:custGeom>
          <a:blipFill>
            <a:blip r:embed="rId2"/>
            <a:stretch>
              <a:fillRect/>
            </a:stretch>
          </a:blipFill>
        </p:spPr>
      </p:sp>
      <p:sp>
        <p:nvSpPr>
          <p:cNvPr id="3" name="TextBox 3"/>
          <p:cNvSpPr txBox="1"/>
          <p:nvPr/>
        </p:nvSpPr>
        <p:spPr>
          <a:xfrm>
            <a:off x="1028700" y="4187679"/>
            <a:ext cx="5040923" cy="2035467"/>
          </a:xfrm>
          <a:prstGeom prst="rect">
            <a:avLst/>
          </a:prstGeom>
        </p:spPr>
        <p:txBody>
          <a:bodyPr lIns="0" tIns="0" rIns="0" bIns="0" rtlCol="0" anchor="t">
            <a:spAutoFit/>
          </a:bodyPr>
          <a:lstStyle/>
          <a:p>
            <a:pPr algn="l">
              <a:lnSpc>
                <a:spcPts val="5259"/>
              </a:lnSpc>
            </a:pPr>
            <a:r>
              <a:rPr lang="en-US" sz="5421" b="1" spc="271">
                <a:solidFill>
                  <a:srgbClr val="191919"/>
                </a:solidFill>
                <a:latin typeface="Gotham Bold"/>
                <a:ea typeface="Gotham Bold"/>
                <a:cs typeface="Gotham Bold"/>
                <a:sym typeface="Gotham Bold"/>
              </a:rPr>
              <a:t>Object Model Diagram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BED5FD-D853-9CE5-D232-6652DA4FA167}"/>
              </a:ext>
            </a:extLst>
          </p:cNvPr>
          <p:cNvPicPr>
            <a:picLocks noChangeAspect="1"/>
          </p:cNvPicPr>
          <p:nvPr/>
        </p:nvPicPr>
        <p:blipFill>
          <a:blip r:embed="rId2"/>
          <a:stretch>
            <a:fillRect/>
          </a:stretch>
        </p:blipFill>
        <p:spPr>
          <a:xfrm>
            <a:off x="22539" y="761388"/>
            <a:ext cx="18242921" cy="8764223"/>
          </a:xfrm>
          <a:prstGeom prst="rect">
            <a:avLst/>
          </a:prstGeom>
        </p:spPr>
      </p:pic>
    </p:spTree>
    <p:extLst>
      <p:ext uri="{BB962C8B-B14F-4D97-AF65-F5344CB8AC3E}">
        <p14:creationId xmlns:p14="http://schemas.microsoft.com/office/powerpoint/2010/main" val="4090920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DC1D09-1CDC-8C15-0F5B-F2DD7B2825EF}"/>
              </a:ext>
            </a:extLst>
          </p:cNvPr>
          <p:cNvPicPr>
            <a:picLocks noChangeAspect="1"/>
          </p:cNvPicPr>
          <p:nvPr/>
        </p:nvPicPr>
        <p:blipFill>
          <a:blip r:embed="rId2"/>
          <a:stretch>
            <a:fillRect/>
          </a:stretch>
        </p:blipFill>
        <p:spPr>
          <a:xfrm>
            <a:off x="51118" y="804257"/>
            <a:ext cx="18185763" cy="8678486"/>
          </a:xfrm>
          <a:prstGeom prst="rect">
            <a:avLst/>
          </a:prstGeom>
        </p:spPr>
      </p:pic>
    </p:spTree>
    <p:extLst>
      <p:ext uri="{BB962C8B-B14F-4D97-AF65-F5344CB8AC3E}">
        <p14:creationId xmlns:p14="http://schemas.microsoft.com/office/powerpoint/2010/main" val="2200258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FAEFCD-9D95-D49C-940C-68CEFAE91437}"/>
              </a:ext>
            </a:extLst>
          </p:cNvPr>
          <p:cNvPicPr>
            <a:picLocks noChangeAspect="1"/>
          </p:cNvPicPr>
          <p:nvPr/>
        </p:nvPicPr>
        <p:blipFill>
          <a:blip r:embed="rId2"/>
          <a:stretch>
            <a:fillRect/>
          </a:stretch>
        </p:blipFill>
        <p:spPr>
          <a:xfrm>
            <a:off x="27302" y="794730"/>
            <a:ext cx="18233395" cy="8697539"/>
          </a:xfrm>
          <a:prstGeom prst="rect">
            <a:avLst/>
          </a:prstGeom>
        </p:spPr>
      </p:pic>
    </p:spTree>
    <p:extLst>
      <p:ext uri="{BB962C8B-B14F-4D97-AF65-F5344CB8AC3E}">
        <p14:creationId xmlns:p14="http://schemas.microsoft.com/office/powerpoint/2010/main" val="2314391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372B26-381C-7A02-1A80-B61F00266C61}"/>
              </a:ext>
            </a:extLst>
          </p:cNvPr>
          <p:cNvPicPr>
            <a:picLocks noChangeAspect="1"/>
          </p:cNvPicPr>
          <p:nvPr/>
        </p:nvPicPr>
        <p:blipFill>
          <a:blip r:embed="rId2"/>
          <a:stretch>
            <a:fillRect/>
          </a:stretch>
        </p:blipFill>
        <p:spPr>
          <a:xfrm>
            <a:off x="22539" y="761388"/>
            <a:ext cx="18242921" cy="8764223"/>
          </a:xfrm>
          <a:prstGeom prst="rect">
            <a:avLst/>
          </a:prstGeom>
        </p:spPr>
      </p:pic>
    </p:spTree>
    <p:extLst>
      <p:ext uri="{BB962C8B-B14F-4D97-AF65-F5344CB8AC3E}">
        <p14:creationId xmlns:p14="http://schemas.microsoft.com/office/powerpoint/2010/main" val="386588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A2FC39-F445-96C5-B756-735E870D9EDE}"/>
              </a:ext>
            </a:extLst>
          </p:cNvPr>
          <p:cNvPicPr>
            <a:picLocks noChangeAspect="1"/>
          </p:cNvPicPr>
          <p:nvPr/>
        </p:nvPicPr>
        <p:blipFill>
          <a:blip r:embed="rId2"/>
          <a:stretch>
            <a:fillRect/>
          </a:stretch>
        </p:blipFill>
        <p:spPr>
          <a:xfrm>
            <a:off x="22539" y="794730"/>
            <a:ext cx="18242921" cy="8697539"/>
          </a:xfrm>
          <a:prstGeom prst="rect">
            <a:avLst/>
          </a:prstGeom>
        </p:spPr>
      </p:pic>
    </p:spTree>
    <p:extLst>
      <p:ext uri="{BB962C8B-B14F-4D97-AF65-F5344CB8AC3E}">
        <p14:creationId xmlns:p14="http://schemas.microsoft.com/office/powerpoint/2010/main" val="9793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310</Words>
  <Application>Microsoft Office PowerPoint</Application>
  <PresentationFormat>Custom</PresentationFormat>
  <Paragraphs>18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Gotham Light</vt:lpstr>
      <vt:lpstr>Gotham Bold</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DATAFYRE</dc:title>
  <cp:lastModifiedBy>Lakshman Siva</cp:lastModifiedBy>
  <cp:revision>2</cp:revision>
  <dcterms:created xsi:type="dcterms:W3CDTF">2006-08-16T00:00:00Z</dcterms:created>
  <dcterms:modified xsi:type="dcterms:W3CDTF">2024-12-08T04:46:59Z</dcterms:modified>
  <dc:identifier>DAGYqREl9c4</dc:identifier>
</cp:coreProperties>
</file>